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1521440" cy="457200"/>
          </a:xfrm>
          <a:prstGeom prst="rect">
            <a:avLst/>
          </a:prstGeom>
          <a:solidFill>
            <a:srgbClr val="233044"/>
          </a:solidFill>
          <a:ln w="15875">
            <a:solidFill>
              <a:srgbClr val="1B24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 FACTORS UNITY </a:t>
            </a:r>
            <a:pPr algn="l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（REMS 套件）综合架构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11521440" cy="530352"/>
          </a:xfrm>
          <a:prstGeom prst="rect">
            <a:avLst/>
          </a:prstGeom>
          <a:solidFill>
            <a:srgbClr val="E3F3F1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1323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Unity REMI </a:t>
            </a:r>
            <a:pPr algn="ctr" indent="0" marL="0">
              <a:buNone/>
            </a:pPr>
            <a:r>
              <a:rPr lang="en-US" sz="1200" b="1" dirty="0">
                <a:solidFill>
                  <a:srgbClr val="1F7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横向 AI 引擎（Sense → Predict → Act → Automate）</a:t>
            </a:r>
            <a:pPr algn="ctr" indent="0" marL="0">
              <a:buNone/>
            </a:pPr>
            <a:r>
              <a:rPr lang="en-US" sz="1050" dirty="0">
                <a:solidFill>
                  <a:srgbClr val="556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自然语言问答 / 摘要 / 异常解释 · 归因 + 建议下一步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16736"/>
            <a:ext cx="3688080" cy="4334256"/>
          </a:xfrm>
          <a:prstGeom prst="rect">
            <a:avLst/>
          </a:prstGeom>
          <a:solidFill>
            <a:srgbClr val="E6F0FB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408176"/>
            <a:ext cx="3468624" cy="310896"/>
          </a:xfrm>
          <a:prstGeom prst="rect">
            <a:avLst/>
          </a:prstGeom>
          <a:solidFill>
            <a:srgbClr val="2E6DA4"/>
          </a:solidFill>
          <a:ln w="15875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08176"/>
            <a:ext cx="3468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监控控制域  </a:t>
            </a:r>
            <a:pPr algn="ctr" indent="0" marL="0">
              <a:buNone/>
            </a:pPr>
            <a:r>
              <a:rPr lang="en-US" sz="1100" b="1" dirty="0">
                <a:solidFill>
                  <a:srgbClr val="E8E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M&amp;C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3413760" cy="1182624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28800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SCADA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066544"/>
            <a:ext cx="1578864" cy="394716"/>
          </a:xfrm>
          <a:prstGeom prst="rect">
            <a:avLst/>
          </a:prstGeom>
          <a:solidFill>
            <a:srgbClr val="FFFFFF"/>
          </a:solidFill>
          <a:ln w="9525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/ 中央两级监控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00656" y="2066544"/>
            <a:ext cx="1578864" cy="394716"/>
          </a:xfrm>
          <a:prstGeom prst="rect">
            <a:avLst/>
          </a:prstGeom>
          <a:solidFill>
            <a:srgbClr val="FFFFFF"/>
          </a:solidFill>
          <a:ln w="9525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多协议接入 104/61850/Modbus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2506980"/>
            <a:ext cx="1578864" cy="394716"/>
          </a:xfrm>
          <a:prstGeom prst="rect">
            <a:avLst/>
          </a:prstGeom>
          <a:solidFill>
            <a:srgbClr val="FFFFFF"/>
          </a:solidFill>
          <a:ln w="9525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全站设备监控 · 告警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200656" y="2506980"/>
            <a:ext cx="1578864" cy="394716"/>
          </a:xfrm>
          <a:prstGeom prst="rect">
            <a:avLst/>
          </a:prstGeom>
          <a:solidFill>
            <a:srgbClr val="FFFFFF"/>
          </a:solidFill>
          <a:ln w="9525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组合到设备下钻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084576"/>
            <a:ext cx="3413760" cy="1182624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21152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PPC · 电站控制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358896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有功控制 · 功率分配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00656" y="3358896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无功 / 功率因数 · 调压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3652520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爬坡率 · 动态 setpoint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200656" y="3652520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零功率 / 零注入控制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" y="3946144"/>
            <a:ext cx="3230880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70+ 电网 grid code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4376928"/>
            <a:ext cx="3413760" cy="1182624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13504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EMS · 能量管理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651248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日前 / 日内 / 实时调度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200656" y="4651248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辅助服务（调频）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" y="4944872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 SOC · 电池保护边界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200656" y="4944872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负价限电 · 降不平衡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5238496"/>
            <a:ext cx="3230880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5B9BD5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VPP 聚合 · sub-200ms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36720" y="1316736"/>
            <a:ext cx="3688080" cy="4334256"/>
          </a:xfrm>
          <a:prstGeom prst="rect">
            <a:avLst/>
          </a:prstGeom>
          <a:solidFill>
            <a:srgbClr val="ECE6F7"/>
          </a:solidFill>
          <a:ln w="19050">
            <a:solidFill>
              <a:srgbClr val="9179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46448" y="1408176"/>
            <a:ext cx="3468624" cy="310896"/>
          </a:xfrm>
          <a:prstGeom prst="rect">
            <a:avLst/>
          </a:prstGeom>
          <a:solidFill>
            <a:srgbClr val="6A4CA5"/>
          </a:solidFill>
          <a:ln w="15875">
            <a:solidFill>
              <a:srgbClr val="6A4C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6448" y="1408176"/>
            <a:ext cx="3468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技术资产域  </a:t>
            </a:r>
            <a:pPr algn="ctr" indent="0" marL="0">
              <a:buNone/>
            </a:pPr>
            <a:r>
              <a:rPr lang="en-US" sz="1100" b="1" dirty="0">
                <a:solidFill>
                  <a:srgbClr val="E8E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73880" y="1792224"/>
            <a:ext cx="3413760" cy="1182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179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65320" y="1828800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A4C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APM · 资产性能管理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65320" y="2066544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风光储统一性能视图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17336" y="2066544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停机 / 降电 / 欠发分类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465320" y="2360168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能量损失瀑布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17336" y="2360168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 vs 实际 · 基线归因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465320" y="2653792"/>
            <a:ext cx="3230880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根因诊断 · 可用率产出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373880" y="3084576"/>
            <a:ext cx="3413760" cy="1182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179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65320" y="3121152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A4C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Insights · 洞察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465320" y="3358896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异常摘要 · 可能原因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17336" y="3358896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优先级排序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465320" y="3652520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推荐下一步动作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117336" y="3652520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计算失败解释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465320" y="3946144"/>
            <a:ext cx="3230880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自然语言问答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373880" y="4376928"/>
            <a:ext cx="3413760" cy="1182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179C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65320" y="4413504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A4C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FSM · 现场服务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465320" y="4651248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 + PM 工单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117336" y="4651248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200+ 风光标准任务库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465320" y="4944872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排班派工 · 技师状态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117336" y="4944872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三类仓库存 · 跨库调拨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465320" y="5238496"/>
            <a:ext cx="3230880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9179C7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采购优化 · 维护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153400" y="1316736"/>
            <a:ext cx="3688080" cy="4334256"/>
          </a:xfrm>
          <a:prstGeom prst="rect">
            <a:avLst/>
          </a:prstGeom>
          <a:solidFill>
            <a:srgbClr val="FAF2D6"/>
          </a:solidFill>
          <a:ln w="19050">
            <a:solidFill>
              <a:srgbClr val="E0B02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63128" y="1408176"/>
            <a:ext cx="3468624" cy="310896"/>
          </a:xfrm>
          <a:prstGeom prst="rect">
            <a:avLst/>
          </a:prstGeom>
          <a:solidFill>
            <a:srgbClr val="9A7B10"/>
          </a:solidFill>
          <a:ln w="15875">
            <a:solidFill>
              <a:srgbClr val="9A7B1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63128" y="1408176"/>
            <a:ext cx="3468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商业资产域  </a:t>
            </a:r>
            <a:pPr algn="ctr" indent="0" marL="0">
              <a:buNone/>
            </a:pPr>
            <a:r>
              <a:rPr lang="en-US" sz="1100" b="1" dirty="0">
                <a:solidFill>
                  <a:srgbClr val="E8E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8290560" y="1792224"/>
            <a:ext cx="3413760" cy="1182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B02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82000" y="1828800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A7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Asset Oversight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382000" y="2066544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组合资产全景 / 中央登记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0034016" y="2066544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电站到合同下钻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382000" y="2360168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 / 监管合规 · 审计日志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0034016" y="2360168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服务商 / 收益监督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382000" y="2653792"/>
            <a:ext cx="3230880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保修 / 保险索赔 · 角色看板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290560" y="3084576"/>
            <a:ext cx="3413760" cy="1182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B02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82000" y="3121152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A7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Invoice Mgmt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382000" y="3358896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集中发票 · 自动开票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0034016" y="3358896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费率表 rate schedule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382000" y="3652520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整合公用事业账单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0034016" y="3652520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付款状态监控 · 延误告警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382000" y="3946144"/>
            <a:ext cx="3230880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财务报表 · 现金流管理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290560" y="4376928"/>
            <a:ext cx="3413760" cy="1182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B02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82000" y="4413504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A7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Commercial Events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8382000" y="4651248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商业影响事件账本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0034016" y="4651248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停机 / 事故 / 限电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8382000" y="4944872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 · 电量损失影响计算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0034016" y="4944872"/>
            <a:ext cx="1578864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 · 责任方 / 合同关联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382000" y="5238496"/>
            <a:ext cx="3230880" cy="24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0B0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保修 / 保险事件 · 合规追踪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20040" y="5742432"/>
            <a:ext cx="11521440" cy="329184"/>
          </a:xfrm>
          <a:prstGeom prst="rect">
            <a:avLst/>
          </a:prstGeom>
          <a:solidFill>
            <a:srgbClr val="E5E8F0"/>
          </a:solidFill>
          <a:ln w="15875">
            <a:solidFill>
              <a:srgbClr val="7986C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8640" y="574243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2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Unity 数据底座：</a:t>
            </a:r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统一资产模型 / 时序 / 事件 / 损失计算 / 权限 / API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320040" y="6144768"/>
            <a:ext cx="11521440" cy="402336"/>
          </a:xfrm>
          <a:prstGeom prst="rect">
            <a:avLst/>
          </a:prstGeom>
          <a:solidFill>
            <a:srgbClr val="DDE0EA"/>
          </a:solidFill>
          <a:ln w="15875">
            <a:solidFill>
              <a:srgbClr val="7986C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8640" y="6144768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2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现场与外部：</a:t>
            </a:r>
            <a:pPr algn="ctr"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风光储设备 · Local SCADA/EMS/PPC        |        市场电价 · PPA 合同 · 调度指令 · 电网约束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FACTORS UNITY 综合架构</dc:title>
  <dc:subject>PptxGenJS Presentation</dc:subject>
  <dc:creator>PptxGenJS</dc:creator>
  <cp:lastModifiedBy>PptxGenJS</cp:lastModifiedBy>
  <cp:revision>1</cp:revision>
  <dcterms:created xsi:type="dcterms:W3CDTF">2026-07-15T03:28:19Z</dcterms:created>
  <dcterms:modified xsi:type="dcterms:W3CDTF">2026-07-15T03:28:19Z</dcterms:modified>
</cp:coreProperties>
</file>