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5" r:id="rId4"/>
    <p:sldMasterId id="2147483650" r:id="rId5"/>
    <p:sldMasterId id="2147483667" r:id="rId6"/>
  </p:sldMasterIdLst>
  <p:notesMasterIdLst>
    <p:notesMasterId r:id="rId10"/>
  </p:notesMasterIdLst>
  <p:sldIdLst>
    <p:sldId id="256" r:id="rId9"/>
    <p:sldId id="257" r:id="rId8"/>
    <p:sldId id="258" r:id="rId7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81316CC1-DC07-724F-951F-344DE4F26084}">
          <p14:sldIdLst>
            <p14:sldId id="287"/>
          </p14:sldIdLst>
        </p14:section>
        <p14:section name="Light Theme" id="{BC31728A-994C-7647-ABEC-B14018EBDEF1}">
          <p14:sldIdLst>
            <p14:sldId id="276"/>
          </p14:sldIdLst>
        </p14:section>
        <p14:section name="Dark Theme" id="{03330ED3-600B-7D4D-9EAC-6D4CE18A9460}">
          <p14:sldIdLst/>
        </p14:section>
        <p14:section name="Ending" id="{81C88842-2B13-470F-9360-8408E803334B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8C8C8C"/>
    <a:srgbClr val="646464"/>
    <a:srgbClr val="1E1E1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16"/>
    <p:restoredTop sz="96327"/>
  </p:normalViewPr>
  <p:slideViewPr>
    <p:cSldViewPr snapToGrid="0">
      <p:cViewPr varScale="1">
        <p:scale>
          <a:sx n="74" d="100"/>
          <a:sy n="74" d="100"/>
        </p:scale>
        <p:origin x="6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1FB933-C7E0-E24B-BA3E-F6259A11C6FA}" type="datetimeFigureOut">
              <a:rPr kumimoji="1" lang="zh-CN" altLang="en-US" smtClean="0"/>
              <a:pPr/>
              <a:t>2026/6/25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AA71869E-0B30-2E4A-B2CE-4A4AFE5E13B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95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996800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3322" y="335689"/>
            <a:ext cx="1406711" cy="2950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6BB56C-716E-E275-C185-56B0C80D003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4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35BF16F-904E-5BD8-9E2C-DE61F2AB2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31" cy="685773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028047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2134800"/>
            <a:ext cx="11365353" cy="5623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0ED404-DFDA-7F78-5118-4C6A68051E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80F966-A561-A220-9DDC-D7106E50FD0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4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01BCC6F9-022B-7BD7-D731-FC72E144C4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29" cy="685773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15880"/>
            <a:ext cx="11365354" cy="136834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5895729"/>
            <a:ext cx="11365353" cy="5050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1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31598-7836-43BA-BC20-2DCE257A80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865D37-B2B8-2DBE-4CB2-21074735053D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6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107FE9B-1B7F-5A3A-908B-4272A7BF14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752364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54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12750" y="456711"/>
            <a:ext cx="3194697" cy="670152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CC9B9109-3AB1-CE02-B69C-5CDE42404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2750" y="5900392"/>
            <a:ext cx="11365354" cy="814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F831FFDD-57BB-F315-ED5B-712000C52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2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86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04150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D08B19-9884-CD15-0889-3C5AAB107A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rgbClr val="8C8C8C"/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40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5D6D2B3-2DF3-5BAA-199F-61BE25EF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>	Content Level 3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1CB0C8B-EA50-F6F3-9BB4-ED9D783DF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799"/>
            <a:ext cx="11365354" cy="547200"/>
          </a:xfrm>
        </p:spPr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87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83A26E7-F5E1-9A5C-0C5D-E1CAED1880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686"/>
            <a:ext cx="11365354" cy="334319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ADA96D7-AD10-6379-0AEA-1E9B7C395F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91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7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97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13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D4198D-0398-E4BD-CE4F-5D5A63C230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402807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24725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41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FE9BF1-4506-3650-9027-F958DBE4C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7346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C2BAAD-A084-A7E7-EB18-C20150EB8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5432589-A631-47FC-8430-CB92A66E63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4FC229-0B3B-BC80-F978-1D31D2B90D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="0" i="0" baseline="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973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5F0B4D-1637-E324-1C30-C94FDA5E6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AACC10B-2756-57A9-933C-9FC181D35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200" cy="547200"/>
          </a:xfrm>
        </p:spPr>
        <p:txBody>
          <a:bodyPr>
            <a:normAutofit/>
          </a:bodyPr>
          <a:lstStyle>
            <a:lvl1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35DA02D-A0E4-0E6B-2BD8-0A9B0C4D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>	Content Level 3</a:t>
            </a:r>
          </a:p>
        </p:txBody>
      </p:sp>
    </p:spTree>
    <p:extLst>
      <p:ext uri="{BB962C8B-B14F-4D97-AF65-F5344CB8AC3E}">
        <p14:creationId xmlns:p14="http://schemas.microsoft.com/office/powerpoint/2010/main" val="2880944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B2AA53-574D-6225-B330-627353FE5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D2B216-0A74-5A63-7371-3A364C70E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354" cy="518983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18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041DBD97-8F8E-9527-F30F-EB8405FF6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000"/>
            <a:ext cx="11365354" cy="334319"/>
          </a:xfrm>
        </p:spPr>
        <p:txBody>
          <a:bodyPr anchor="b"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037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63565-7CD1-34D1-4B6D-7C4AB2B14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5438F20D-22B2-5D0E-4CAE-0D523C8B7A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F4923F-E042-EC78-3C32-5B8367CD8953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75AA360-09B2-4872-93D3-306E3433B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8973303F-FF90-D4C8-B353-24B41AD0DC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6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04DFE82-DE2E-1ACF-4CD5-D6961F00EE2F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BEB26B2-F915-E94E-CDFE-235C68C22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A7D7DA10-FDC4-45E8-88ED-12EF202258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8976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2753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E59A2A-51C6-9DD6-A39D-C61EF475B4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34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0A2A98-D979-43EE-E742-0854694D4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D417B9A-80BE-3A63-D820-6A1FA39FD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/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9532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sv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2" Type="http://schemas.openxmlformats.org/officeDocument/2006/relationships/image" Target="../media/image6.svg"/><Relationship Id="rId13" Type="http://schemas.openxmlformats.org/officeDocument/2006/relationships/image" Target="../media/image7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12" Type="http://schemas.openxmlformats.org/officeDocument/2006/relationships/image" Target="../media/image8.sv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baseline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3AACEF4-ACEE-8C8F-B83B-35A9872A6D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569386" y="454560"/>
            <a:ext cx="3194697" cy="6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2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7" r:id="rId2"/>
    <p:sldLayoutId id="2147483659" r:id="rId3"/>
    <p:sldLayoutId id="214748368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b="0" i="0" kern="0" spc="-75" smtClean="0">
                <a:solidFill>
                  <a:srgbClr val="646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9800" y="329753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rgbClr val="646464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rgbClr val="646464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CBE1614-2EC4-0E16-4493-3EDE6FE2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2607" y="365924"/>
            <a:ext cx="682186" cy="14310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BD51E01-D009-167A-8485-177928F9EB89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3290440-3A82-97C6-72BE-4A9802ECA8C7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E6F1C21-8D17-DDED-FDDB-2FDA602BC468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422F5FC6-EDF1-1131-AAA0-B549DC4121CC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FF468FE-E91B-334B-7B95-376F48DD5DB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E6405AF-73EC-2D12-737F-406C0C6A4F4B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D7FD1C-F159-896C-17BF-EEB6EAB29062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2444FE9-A26D-4537-AF19-EB34B1D4C7A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3BB67190-F228-D340-FCDB-94A5F436284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26ACB749-2266-C693-5A44-02AFADDC1C8D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66295AC0-C029-AF17-E343-555656C22875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28FE4898-BBDA-0C7E-F0ED-41BE94ABB94F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88D38E1C-B6A3-6686-E52D-677A94C28B0C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751E1904-6C6C-D4A8-1711-4F04E3564544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C87D285-3A58-602E-EC56-96A6FCE23274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60EAC77D-B788-E701-2BDD-C9509FF0F12B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001C33E1-A199-AA05-5CBD-E3C3CF0E0B1D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4F6E6CE0-1748-597D-A2A5-071A7EF12C6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106F3FF4-48D8-8A82-B697-82E9DC1D09B5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BA4002E4-D7CD-94ED-A0A9-BB698AE7ABA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B1646A15-001D-7C73-D8EC-169CCD0EA8E2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07735E-9CD0-D2C9-4192-43CE7E7B29DE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79E44B-8DDF-702A-1F64-4D766F708921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A3D58A11-7EB7-5A9E-76BB-AF3BD6557A4C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8A46133D-F06E-25F3-3956-64A731372BAF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4AA92E50-BA91-7A07-529C-8627A404878E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A50E07C-AD6B-5EEB-0DA8-AF96827B97E8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A834CE0A-A54C-5AD9-883F-B0B43E9042A3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9A65A4BD-6407-85E8-969C-3EC03B17C909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3F48F3B3-68D1-A05E-9DEA-410C048432AC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FE494E60-1316-124A-111A-E2C4C14AD2A2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FBC75E0-8054-26FA-9C9A-8C54A3A2F039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2F501E3C-AAAA-1FB5-43BB-E1E58CABDB6D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2979B0A6-4A95-5E88-7397-B780D9F1AC72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BBED46A7-08A9-AD5E-55CD-0F344B4CFDF6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502221D2-45BC-22AE-0D45-F6E4627BE6D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B33054-5058-0584-4897-64CAE6CDF64C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3F12670-3DF2-1A06-0434-3E6FCFCB123F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7" name="Freeform 63">
                <a:extLst>
                  <a:ext uri="{FF2B5EF4-FFF2-40B4-BE49-F238E27FC236}">
                    <a16:creationId xmlns:a16="http://schemas.microsoft.com/office/drawing/2014/main" id="{83601398-B8AB-8CD5-9274-FFA2B9CB8398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BB4A8B43-F72E-7454-F863-52E5779CCF65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05CBE5B0-C8B5-2121-9A19-0260ADC99D61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DBC1C158-B8C0-FC7F-0144-D123D47CB4F1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83FEB0F1-A374-CF3A-DF59-907A3B4120BE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5A77DB9A-2C59-5C48-3C06-54778AF72F3C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05FD9BD4-CC88-14C0-CCCC-12B79DFCB6A4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F2B5D8B-E96C-62D5-F9DB-7B5CFDD50DF2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34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  <p:sldLayoutId id="2147483672" r:id="rId3"/>
    <p:sldLayoutId id="2147483670" r:id="rId4"/>
    <p:sldLayoutId id="2147483671" r:id="rId5"/>
    <p:sldLayoutId id="2147483674" r:id="rId6"/>
    <p:sldLayoutId id="2147483680" r:id="rId7"/>
    <p:sldLayoutId id="2147483684" r:id="rId8"/>
    <p:sldLayoutId id="2147483685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8400" y="331200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B113AD-2CE1-F0CD-20E9-288F376EC53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3292" y="367787"/>
            <a:ext cx="678216" cy="14227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666812F-169D-B9A7-5C50-98AEDC1C6353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F416A27-D0A9-A9FF-F8A5-4A622190E18B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CFBCFFA-A858-68CD-E60D-0CCF3030757F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1C31416-0BBA-9D85-1C18-47B531160BF7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2D98AF8-C044-29E7-41C9-0FD3D5215E6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D584859-6DE5-F27E-EDF4-A1402CB9463F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82B4B98-7E74-206F-8631-DB66F71EC4CC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4EC48D-6B0B-187C-D044-449FFB0A2AB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F96409CA-D208-1F27-F3CE-ECC537C47B0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8C690F46-AD87-B717-2872-69904FC8D9B8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8827B19C-CB7C-DF69-65E2-802059451049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A339A73B-DEA9-64F8-9F0C-ACF11A288B41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A06D19C0-C3EB-BA7C-F0CA-E666AA937C00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9C8478B9-4E3C-9C08-5054-7C6D62763795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8433BFA-35C2-3245-FCE1-6F7608287B5F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CE3BE473-3DDF-B75F-D9D4-14D755916760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CF74B61C-6529-A2D0-EE3F-FB760F7ACA87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1C479656-133D-BD79-5FF1-8023EC4EEE7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60ABE15E-3DBB-8D8A-7CC6-5785A5E82163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6B4A5BC1-D21E-008B-8E54-E92E801AA2E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CE9BBB67-5630-8452-5994-7CDAABE2481B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FB62A50-A692-0690-E11F-3265C055C872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7C21FCF-A96A-70BF-5081-12BD13268F5F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FA9875E1-97DA-003B-E21D-A0C1EEC7BD3E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477BA5AA-C755-5078-5D7A-D82330B7F95C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AB73D597-1956-6735-9AEC-2D2467EE3A8A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55DF5C6-5F5A-911D-B58D-9DB875870785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C9FB6BC6-7755-BE45-5D4D-2243204AA012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3DB4F8C1-8D0C-C554-147F-0229556AF558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A42F4D76-45CC-2609-D7F0-F5C32DC9F468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50157F55-49C7-70ED-CF69-797DD5A250EE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E2060B6-CBA2-8839-626D-1C217EF712CD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F14B7692-FBDD-845A-794D-3028C412F3F2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31E89648-80B9-99BA-4881-E725B7E521F8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5B5F5E9E-B8A0-AF22-6F8C-BF86DD2A6FFA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2AF51E06-F4F1-3CB0-25F7-3254FD0C8B7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5169B5-09F9-984E-0A55-27E7644E4F75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B23A293-86E2-6279-2040-92BF8547D490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9" name="Freeform 63">
                <a:extLst>
                  <a:ext uri="{FF2B5EF4-FFF2-40B4-BE49-F238E27FC236}">
                    <a16:creationId xmlns:a16="http://schemas.microsoft.com/office/drawing/2014/main" id="{446400FD-6F31-1756-E8F0-20FCB15327FB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64">
                <a:extLst>
                  <a:ext uri="{FF2B5EF4-FFF2-40B4-BE49-F238E27FC236}">
                    <a16:creationId xmlns:a16="http://schemas.microsoft.com/office/drawing/2014/main" id="{F099ABC4-A840-6D4A-0A42-48012ED2B7D3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AB70348E-DC53-E2FF-2624-444BCE646DFB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077133F0-2C94-8974-3409-6BD4B740D455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0FBB95ED-3A41-1F50-66C6-D01AFB0071E8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22F74FD2-18AF-FD5F-9498-6DB3DF039074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6ABB0868-7F8E-A1F2-23C7-49EED7AE932D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659E7DC-0B87-703C-CFBA-01D6690798AE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63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75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6" r:id="rId8"/>
    <p:sldLayoutId id="2147483687" r:id="rId9"/>
    <p:sldLayoutId id="214748367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</a:rPr>
              <a:t>恒力集团 · 全集团 AI 化转型 Business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</a:rPr>
              <a:t>以 AI 系统性压降加工成本、提升穿越价差周期的盈利韧性</a:t>
            </a:r>
          </a:p>
          <a:p>
            <a:r>
              <a:rPr sz="1200" b="0" i="0">
                <a:solidFill>
                  <a:srgbClr val="AFCCE0"/>
                </a:solidFill>
                <a:latin typeface="微软雅黑"/>
                <a:ea typeface="微软雅黑"/>
              </a:rPr>
              <a:t>2026-08（示意）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在价差周期里，用 AI 把单位综合加工成本做到行业最优，是恒力守住并扩大利润的关键一战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3017520" cy="169164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00784"/>
            <a:ext cx="2743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50" b="1" i="0">
                <a:solidFill>
                  <a:srgbClr val="AFCCE0"/>
                </a:solidFill>
                <a:latin typeface="微软雅黑"/>
                <a:ea typeface="微软雅黑"/>
              </a:rPr>
              <a:t>Business Case 价值量级（示意）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1"/>
            <a:ext cx="274320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4200" b="1" i="0">
                <a:solidFill>
                  <a:srgbClr val="58CDFF"/>
                </a:solidFill>
                <a:latin typeface="微软雅黑"/>
                <a:ea typeface="微软雅黑"/>
              </a:rPr>
              <a:t>6–18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亿元/年成本节约  中性约 11 亿元/年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554480"/>
            <a:ext cx="7936992" cy="73152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627632"/>
            <a:ext cx="7680960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关键经营命题：提升穿越价差周期的成本竞争力与盈利韧性——以 AI 压降原料转化+能源综合成本、提升装置稳定运行与资产效率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377440"/>
            <a:ext cx="3886200" cy="86868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450592"/>
            <a:ext cx="3611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58CDFF"/>
                </a:solidFill>
                <a:latin typeface="微软雅黑"/>
                <a:ea typeface="微软雅黑"/>
              </a:rPr>
              <a:t>首批高价值场景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24912"/>
            <a:ext cx="3611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</a:rPr>
              <a:t>装置能耗实时寻优 · 收率优化 · 大机组预测性维护 · 聚酯质量在线预测 · 能碳协同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377440"/>
            <a:ext cx="3886200" cy="86868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2450592"/>
            <a:ext cx="3611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58CDFF"/>
                </a:solidFill>
                <a:latin typeface="微软雅黑"/>
                <a:ea typeface="微软雅黑"/>
              </a:rPr>
              <a:t>为何是成本方向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2724912"/>
            <a:ext cx="3611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</a:rPr>
              <a:t>FY2025 营收 -14.93% 但利润总额 +6.81%——利润由价差与效率驱动，而非规模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8426A"/>
                </a:solidFill>
                <a:latin typeface="微软雅黑"/>
                <a:ea typeface="微软雅黑"/>
              </a:rPr>
              <a:t>实施路径（四阶段）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67328"/>
            <a:ext cx="2651760" cy="50292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需求定标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18688" y="3877056"/>
            <a:ext cx="237744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3767328"/>
            <a:ext cx="2651760" cy="50292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数据与本体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26479" y="3877056"/>
            <a:ext cx="237744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3" y="3767328"/>
            <a:ext cx="2651760" cy="50292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首批智能体上线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34272" y="3877056"/>
            <a:ext cx="237744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2015" y="3767328"/>
            <a:ext cx="2651760" cy="50292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稳定运营与全集团复制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恒力是横跨『炼化 → PX → PTA → 聚酯新材料 → 织造/新材料』的全产业链一体化制造集团（Fortune Global 500 第81位，FY2024 集团营收约 1211 亿美元）。价值来自加工价差，直接原料+能源约占营业成本 80–90%，原料价格不可控——AI 的可控杠杆集中在能源、收率、设备与能碳四类可控加工成本。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价值为基于恒力石化(600346)公开规模与行业区间的示意测算，成本节约口径，待企业数据校准。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炼化—化纤进入过剩与价差收窄周期，『降本 + 装置效率』已成行业生存线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00200"/>
            <a:ext cx="11091672" cy="82296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784"/>
            <a:ext cx="107899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行业普遍最核心命题：持续压降单位产品的原料+能源综合成本、提升重资产装置的利用与稳定运行效率（成本方向）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377440" cy="78638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58CDFF"/>
                </a:solidFill>
                <a:latin typeface="微软雅黑"/>
                <a:ea typeface="微软雅黑"/>
              </a:rPr>
              <a:t>成本结构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2743200"/>
            <a:ext cx="8577072" cy="786384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直接原料 + 能源约占营业成本 80–90%；原料价格不可控，可控杠杆集中在能源/收率/装置效率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39312"/>
            <a:ext cx="2377440" cy="78638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58CDFF"/>
                </a:solidFill>
                <a:latin typeface="微软雅黑"/>
                <a:ea typeface="微软雅黑"/>
              </a:rPr>
              <a:t>周期压力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3639312"/>
            <a:ext cx="8577072" cy="786384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产能过剩、加工价差收窄，2024–2025 行业进入周期性调整 + 结构性重构叠加期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35424"/>
            <a:ext cx="2377440" cy="78638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58CDFF"/>
                </a:solidFill>
                <a:latin typeface="微软雅黑"/>
                <a:ea typeface="微软雅黑"/>
              </a:rPr>
              <a:t>政策趋势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4535424"/>
            <a:ext cx="8577072" cy="786384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能耗双控向碳排放双控转型，碳成本进入成本函数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31536"/>
            <a:ext cx="2377440" cy="78638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58CDFF"/>
                </a:solidFill>
                <a:latin typeface="微软雅黑"/>
                <a:ea typeface="微软雅黑"/>
              </a:rPr>
              <a:t>利润逻辑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5431536"/>
            <a:ext cx="8577072" cy="786384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营收随油价波动，利润由加工价差决定——降本增效直接决定周期底部盈利韧性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依据：炼化—聚酯行业成本结构与利润驱动公开规律（参考同业）。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成本集中在『原料—炼化—PTA—聚酯』主链，能耗/收率/设备是 AI 可控降本热点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12064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价值链环节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1737360"/>
            <a:ext cx="320040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成本属性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737360"/>
            <a:ext cx="155448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占总成本%(示意)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61320" y="1737360"/>
            <a:ext cx="1078992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热点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9696"/>
            <a:ext cx="512064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原油/大宗原料采购与仓储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139696"/>
            <a:ext cx="320040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原料成本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2139696"/>
            <a:ext cx="155448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62%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1320" y="2139696"/>
            <a:ext cx="1078992" cy="530352"/>
          </a:xfrm>
          <a:prstGeom prst="rect">
            <a:avLst/>
          </a:prstGeom>
          <a:solidFill>
            <a:srgbClr val="D2D2D2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646464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512064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i="0">
                <a:solidFill>
                  <a:srgbClr val="262626"/>
                </a:solidFill>
                <a:latin typeface="微软雅黑"/>
                <a:ea typeface="微软雅黑"/>
              </a:rPr>
              <a:t>炼油（常减压/催化/重整/加氢）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688336"/>
            <a:ext cx="320040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能耗+收率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688336"/>
            <a:ext cx="155448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61320" y="2688336"/>
            <a:ext cx="1078992" cy="530352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36976"/>
            <a:ext cx="512064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i="0">
                <a:solidFill>
                  <a:srgbClr val="262626"/>
                </a:solidFill>
                <a:latin typeface="微软雅黑"/>
                <a:ea typeface="微软雅黑"/>
              </a:rPr>
              <a:t>芳烃PX/PTA 加工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3236976"/>
            <a:ext cx="320040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加工费+能耗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236976"/>
            <a:ext cx="155448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3236976"/>
            <a:ext cx="1078992" cy="530352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85615"/>
            <a:ext cx="512064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i="0">
                <a:solidFill>
                  <a:srgbClr val="262626"/>
                </a:solidFill>
                <a:latin typeface="微软雅黑"/>
                <a:ea typeface="微软雅黑"/>
              </a:rPr>
              <a:t>聚合/聚酯（切片/长短丝/瓶片）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3785615"/>
            <a:ext cx="320040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能耗+优等品率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785615"/>
            <a:ext cx="155448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20" y="3785615"/>
            <a:ext cx="1078992" cy="530352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34255"/>
            <a:ext cx="512064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i="0">
                <a:solidFill>
                  <a:srgbClr val="262626"/>
                </a:solidFill>
                <a:latin typeface="微软雅黑"/>
                <a:ea typeface="微软雅黑"/>
              </a:rPr>
              <a:t>公用工程能源动力（蒸汽/电/热）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4334255"/>
            <a:ext cx="320040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综合能源+碳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334255"/>
            <a:ext cx="155448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4334255"/>
            <a:ext cx="1078992" cy="530352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82895"/>
            <a:ext cx="512064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i="0">
                <a:solidFill>
                  <a:srgbClr val="262626"/>
                </a:solidFill>
                <a:latin typeface="微软雅黑"/>
                <a:ea typeface="微软雅黑"/>
              </a:rPr>
              <a:t>大机组运维与非计划停车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4882895"/>
            <a:ext cx="320040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设备维修+停车损失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882895"/>
            <a:ext cx="1554480" cy="530352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4882895"/>
            <a:ext cx="1078992" cy="530352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31535"/>
            <a:ext cx="512064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新材料及其他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5431535"/>
            <a:ext cx="320040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高附加值/其他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5431535"/>
            <a:ext cx="1554480" cy="530352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20" y="5431535"/>
            <a:ext cx="1078992" cy="530352"/>
          </a:xfrm>
          <a:prstGeom prst="rect">
            <a:avLst/>
          </a:prstGeom>
          <a:solidFill>
            <a:srgbClr val="D2D2D2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646464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80175"/>
            <a:ext cx="8366760" cy="38404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合计（单一口径：占集团总成本，示意）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5980175"/>
            <a:ext cx="1554480" cy="38404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5980175"/>
            <a:ext cx="1078992" cy="384048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占比为占集团总成本单一口径（示意），合计100%，待企业口径校准；★=AI 可控降本热点（原料价格由市场决定，非 AI 主控）。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提升穿越价差周期的成本竞争力与盈利韧性——用 AI 把四类可控成本做到最优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91640"/>
            <a:ext cx="3566160" cy="178308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0136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 i="0">
                <a:solidFill>
                  <a:srgbClr val="58CDFF"/>
                </a:solidFill>
                <a:latin typeface="微软雅黑"/>
                <a:ea typeface="微软雅黑"/>
              </a:rPr>
              <a:t>能效与能量协同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58568"/>
            <a:ext cx="32918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痛点：装置工况寻优与全厂能量协同长期依赖人工经验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99232"/>
            <a:ext cx="329184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AFCCE0"/>
                </a:solidFill>
                <a:latin typeface="微软雅黑"/>
                <a:ea typeface="微软雅黑"/>
              </a:rPr>
              <a:t>抓手：装置能耗实时寻优 + 全厂能量平衡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691640"/>
            <a:ext cx="3566160" cy="178308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80136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 i="0">
                <a:solidFill>
                  <a:srgbClr val="58CDFF"/>
                </a:solidFill>
                <a:latin typeface="微软雅黑"/>
                <a:ea typeface="微软雅黑"/>
              </a:rPr>
              <a:t>收率与产品质量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258568"/>
            <a:ext cx="32918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痛点：反应/分离参数人工调节、聚合质量靠离线化验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999232"/>
            <a:ext cx="329184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AFCCE0"/>
                </a:solidFill>
                <a:latin typeface="微软雅黑"/>
                <a:ea typeface="微软雅黑"/>
              </a:rPr>
              <a:t>抓手：收率自寻优 + 质量在线预测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1691640"/>
            <a:ext cx="3566160" cy="178308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80136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 i="0">
                <a:solidFill>
                  <a:srgbClr val="58CDFF"/>
                </a:solidFill>
                <a:latin typeface="微软雅黑"/>
                <a:ea typeface="微软雅黑"/>
              </a:rPr>
              <a:t>设备可靠性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258568"/>
            <a:ext cx="32918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痛点：大机组以事后维修为主、缺早期故障预警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999232"/>
            <a:ext cx="329184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AFCCE0"/>
                </a:solidFill>
                <a:latin typeface="微软雅黑"/>
                <a:ea typeface="微软雅黑"/>
              </a:rPr>
              <a:t>抓手：预测性维护 + 按状态检修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48426A"/>
                </a:solidFill>
                <a:latin typeface="微软雅黑"/>
                <a:ea typeface="微软雅黑"/>
              </a:rPr>
              <a:t>价值连接链（AI 如何改善高管最关心的单位综合加工成本）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993392" cy="86868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AI 寻优/预测/优化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60320" y="4407408"/>
            <a:ext cx="256032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4114800"/>
            <a:ext cx="1993392" cy="86868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改善能耗·收率·停车率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46320" y="4407408"/>
            <a:ext cx="256032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4114800"/>
            <a:ext cx="1993392" cy="86868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单位综合成本下降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2319" y="4407408"/>
            <a:ext cx="256032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4114800"/>
            <a:ext cx="1993392" cy="86868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单位综合加工成本(主KPI)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19" y="4407408"/>
            <a:ext cx="256032" cy="274320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4114800"/>
            <a:ext cx="1993392" cy="86868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穿越价差周期盈利韧性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1">
                <a:solidFill>
                  <a:srgbClr val="646464"/>
                </a:solidFill>
                <a:latin typeface="微软雅黑"/>
                <a:ea typeface="微软雅黑"/>
              </a:rPr>
              <a:t>诚实边界：AI 改善集中在能源/收率/设备等可控项；原料价格与产品售价属市场，不在 AI 直接控制范围。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命题锚定高管最关心的公司级成本命题；各跳量级为示意。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一棵成本树，把『降低单位综合加工成本』拆到可执行杠杆与可量化关键指标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1371600"/>
            <a:ext cx="4114800" cy="47548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降低单位产品综合加工成本（元/吨）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43600" y="1883664"/>
            <a:ext cx="274320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651760" cy="51206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能源成本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212848"/>
            <a:ext cx="15544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2103120"/>
            <a:ext cx="2651760" cy="51206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原料转化损失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1888" y="2212848"/>
            <a:ext cx="15544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7336" y="2103120"/>
            <a:ext cx="2651760" cy="51206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设备可靠性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9096" y="2212848"/>
            <a:ext cx="15544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4544" y="2103120"/>
            <a:ext cx="2651760" cy="51206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碳履约与环保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09928" y="2651760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4517136" y="2651760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7324344" y="2651760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10131551" y="2651760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能耗↓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80944"/>
            <a:ext cx="18288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能源单价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收率损失↓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980944"/>
            <a:ext cx="18288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降级损失↓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6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停车损失↓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2980944"/>
            <a:ext cx="18288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2889504"/>
            <a:ext cx="1234439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维修↓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24544" y="2889504"/>
            <a:ext cx="762000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碳强度↓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4" y="2980944"/>
            <a:ext cx="18288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69424" y="2889504"/>
            <a:ext cx="762000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碳价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1424" y="2980944"/>
            <a:ext cx="18288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48426A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14304" y="2889504"/>
            <a:ext cx="762000" cy="54864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余能↑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709928" y="3493008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4517136" y="3493008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7324344" y="3493008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10131551" y="3493008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712463"/>
            <a:ext cx="2651760" cy="45720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能耗寻优 / 能量平衡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3712463"/>
            <a:ext cx="2651760" cy="45720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收率优化 / 质量预测 / 排产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712463"/>
            <a:ext cx="2651760" cy="45720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预测性维护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4544" y="3712463"/>
            <a:ext cx="2651760" cy="45720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能碳协同 / 碳资产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709928" y="4187952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4517136" y="4187952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7324344" y="4187952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10131551" y="4187952"/>
            <a:ext cx="237744" cy="182880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407408"/>
            <a:ext cx="2651760" cy="56692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单位产品综合能耗（kgce/吨）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4407408"/>
            <a:ext cx="2651760" cy="56692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高价值产品收率（%）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5047488"/>
            <a:ext cx="2651760" cy="56692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聚酯优等品率（%）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17336" y="4407408"/>
            <a:ext cx="2651760" cy="56692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非计划停车时长（小时/年）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24544" y="4407408"/>
            <a:ext cx="2651760" cy="56692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单位产品碳排放强度（tCO2/吨）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微软雅黑"/>
                <a:ea typeface="微软雅黑"/>
              </a:rPr>
              <a:t>青色=5 个关键影响因子（数据就绪·可干预·因果强），为重点测算对象；因果链（影响因子→痛点→AI 场景）见下页。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关键影响因子 → 痛点 → AI 场景：每个降本杠杆都有可执行的智能体闭环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123444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所属成本科目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3080" y="1737360"/>
            <a:ext cx="196596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关键影响因子（单位）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737360"/>
            <a:ext cx="342900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痛点（代号·根因权重）与业务代价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37360"/>
            <a:ext cx="169164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AI 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737360"/>
            <a:ext cx="2770632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AI 场景说明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39696"/>
            <a:ext cx="1234440" cy="82296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能源成本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139696"/>
            <a:ext cx="1965960" cy="822960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单位产品综合能耗（kgce/吨）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139696"/>
            <a:ext cx="3429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P-1 工况寻优依赖人工(55%)｜P-2 能量协同不足(25%)｜P-3 换热网络衰减(20%)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工况与能量协同靠人工，综合能耗偏离最优，价差收窄期直接吞噬利润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139696"/>
            <a:ext cx="169164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装置能耗实时寻优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139696"/>
            <a:ext cx="27706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运用 DCS 多源数据+寻优算法，识别偏离最优工况并实时寻优，达成单位能耗下降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80944"/>
            <a:ext cx="1234440" cy="82296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原料转化损失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2980944"/>
            <a:ext cx="1965960" cy="822960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高价值产品收率（%）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980944"/>
            <a:ext cx="3429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P-4 反应分离参数人工偏差(70%)｜P-1 工况寻优依赖人工(30%)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反应/分离参数人工调节，收率波动，原料转化损失变现为价差损失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980944"/>
            <a:ext cx="169164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收率优化自寻优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980944"/>
            <a:ext cx="27706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运用进料/反应/分离数据建模，识别收率损失并寻优，达成高价值收率提升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1234440" cy="82296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原料转化损失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822191"/>
            <a:ext cx="1965960" cy="822960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聚酯优等品率（%）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3822191"/>
            <a:ext cx="3429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P-5 聚合质量在线感知不足(100%)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质量靠离线化验滞后，优等品率波动，降级与返工成本上升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822191"/>
            <a:ext cx="169164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聚酯质量在线预测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3822191"/>
            <a:ext cx="27706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运用在线光谱/黏度软测量，质量偏移前预警纠偏，达成优等品率提升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1234440" cy="82296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设备可靠性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663440"/>
            <a:ext cx="1965960" cy="822960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非计划停车时长（小时/年）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663440"/>
            <a:ext cx="3429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P-7 大机组缺早期预警(70%)｜P-8 检修非按状态(30%)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事后维修为主，单次非计划停车损失千万级，直冲利润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663440"/>
            <a:ext cx="169164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大机组预测性维护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4663440"/>
            <a:ext cx="27706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运用振动/温度时序建模，早期预测故障，达成非计划停车与维修下降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04688"/>
            <a:ext cx="1234440" cy="82296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碳履约与环保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504688"/>
            <a:ext cx="1965960" cy="822960"/>
          </a:xfrm>
          <a:prstGeom prst="rect">
            <a:avLst/>
          </a:prstGeom>
          <a:solidFill>
            <a:srgbClr val="58CD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单位产品碳排放强度（tCO2/吨）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5504688"/>
            <a:ext cx="3429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P-10 能碳未协同(60%)｜P-9 碳核算缺实时监测(40%)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能碳分开管理、核算滞后，碳成本上升期被动承担更高履约成本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5504688"/>
            <a:ext cx="169164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能碳协同优化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5504688"/>
            <a:ext cx="27706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运用能耗/碳排/余能/价格建模，能碳联合寻优，达成碳强度与碳成本下降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痛点代号为价值树内部溯源标识；根因权重为专家估算，同一影响因子下合计100%；痛点下方为业务代价。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五个就绪场景把单位综合成本从基准逐级压降（示意合计约 6–18 亿元/年，中性约 11 亿元/年）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343150"/>
            <a:ext cx="868680" cy="2914650"/>
          </a:xfrm>
          <a:prstGeom prst="rect">
            <a:avLst/>
          </a:prstGeom>
          <a:solidFill>
            <a:srgbClr val="64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实施前</a:t>
            </a:r>
          </a:p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基准100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87117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19656" y="2343150"/>
            <a:ext cx="868680" cy="408050"/>
          </a:xfrm>
          <a:prstGeom prst="rect">
            <a:avLst/>
          </a:prstGeom>
          <a:solidFill>
            <a:srgbClr val="66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2087117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262626"/>
                </a:solidFill>
                <a:latin typeface="微软雅黑"/>
                <a:ea typeface="微软雅黑"/>
              </a:rPr>
              <a:t>-2.1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8216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能耗寻优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232" y="2751200"/>
            <a:ext cx="868680" cy="388620"/>
          </a:xfrm>
          <a:prstGeom prst="rect">
            <a:avLst/>
          </a:prstGeom>
          <a:solidFill>
            <a:srgbClr val="66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495168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262626"/>
                </a:solidFill>
                <a:latin typeface="微软雅黑"/>
                <a:ea typeface="微软雅黑"/>
              </a:rPr>
              <a:t>-2.0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能碳协同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3139820"/>
            <a:ext cx="868680" cy="68008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883788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262626"/>
                </a:solidFill>
                <a:latin typeface="微软雅黑"/>
                <a:ea typeface="微软雅黑"/>
              </a:rPr>
              <a:t>-3.5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收率优化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8384" y="3819905"/>
            <a:ext cx="868680" cy="34975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3563873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262626"/>
                </a:solidFill>
                <a:latin typeface="微软雅黑"/>
                <a:ea typeface="微软雅黑"/>
              </a:rPr>
              <a:t>-1.8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质量优化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169663"/>
            <a:ext cx="868680" cy="388619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13631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262626"/>
                </a:solidFill>
                <a:latin typeface="微软雅黑"/>
                <a:ea typeface="微软雅黑"/>
              </a:rPr>
              <a:t>-2.0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预测性维护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17536" y="4558283"/>
            <a:ext cx="868680" cy="699516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5303520"/>
            <a:ext cx="1051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实施后</a:t>
            </a:r>
          </a:p>
          <a:p>
            <a:pPr algn="ctr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≈88.6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4302251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  <a:latin typeface="微软雅黑"/>
                <a:ea typeface="微软雅黑"/>
              </a:rPr>
              <a:t>88.6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874519"/>
            <a:ext cx="292608" cy="237744"/>
          </a:xfrm>
          <a:prstGeom prst="rect">
            <a:avLst/>
          </a:prstGeom>
          <a:solidFill>
            <a:srgbClr val="66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56231"/>
            <a:ext cx="24688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能源类（能耗寻优 + 能碳协同）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258568"/>
            <a:ext cx="292608" cy="237744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240279"/>
            <a:ext cx="24688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原料转化类（收率 + 质量）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642615"/>
            <a:ext cx="292608" cy="237744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624327"/>
            <a:ext cx="24688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设备类（预测性维护）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08960"/>
            <a:ext cx="278892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口径：成本节约（成本指数，实施后&lt;实施前）。柱色与大类严格同色、同组相邻。</a:t>
            </a:r>
          </a:p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潜在价值池：全厂能量平衡调度、智能排产切换（缺基线，补数后并入总额）。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纵轴为单位综合成本指数、截断显示(85起,示意)；数值示意（亿元/年），基于行业基准与假设，待企业校准。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场景明细：每个降本场景的关键指标、测算假设与价值区间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173736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737360"/>
            <a:ext cx="228600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737360"/>
            <a:ext cx="173736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价值提升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3931920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假设（两行式）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1737360"/>
            <a:ext cx="1399032" cy="38404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7984"/>
            <a:ext cx="173736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装置能耗实时寻优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57984"/>
            <a:ext cx="2286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单位产品综合能耗（kgce/吨）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57984"/>
            <a:ext cx="1737360" cy="82296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0.9–3.6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57984"/>
            <a:ext cx="393192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优化装置工况、降低单位产品综合能耗，净降低率约1.30%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（[行业] 能源基准152亿×可改善1-3%×可兑现60-80%）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157984"/>
            <a:ext cx="13990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成本节约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173736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收率优化自寻优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99232"/>
            <a:ext cx="2286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高价值产品收率（%）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999232"/>
            <a:ext cx="1737360" cy="82296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2.0–5.0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99232"/>
            <a:ext cx="393192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提升高价值产品收率、挽回价差损失，净降低率约0.40%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（[假设] 炼化营收870亿×可兑现价差率0.3-0.8%）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999232"/>
            <a:ext cx="13990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成本节约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73736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聚酯质量在线预测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840480"/>
            <a:ext cx="2286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聚酯优等品率（%）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840480"/>
            <a:ext cx="1737360" cy="82296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1.0–3.1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393192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提升优等品率、降低降级损失，净降低率约0.45%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（[假设] 新材料390亿×降级损失1-2%×可改善25-40%）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3840480"/>
            <a:ext cx="13990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成本节约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81728"/>
            <a:ext cx="173736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大机组预测性维护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681728"/>
            <a:ext cx="2286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非计划停车时长（小时/年）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681728"/>
            <a:ext cx="1737360" cy="82296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1.0–3.0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81728"/>
            <a:ext cx="393192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降低非计划停车与维修，净降低率约0.60%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（[行业] 停车损失×降20-40%+维修×降5-15%）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4681728"/>
            <a:ext cx="13990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成本节约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76"/>
            <a:ext cx="1737360" cy="82296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能碳协同优化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5522976"/>
            <a:ext cx="228600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单位产品碳排放强度（tCO2/吨）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522976"/>
            <a:ext cx="1737360" cy="822960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1.0–3.0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522976"/>
            <a:ext cx="3931920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800" b="1" i="0">
                <a:solidFill>
                  <a:srgbClr val="262626"/>
                </a:solidFill>
                <a:latin typeface="微软雅黑"/>
                <a:ea typeface="微软雅黑"/>
              </a:rPr>
              <a:t>能碳联合寻优、降低碳强度，净降低率约0.50%</a:t>
            </a:r>
          </a:p>
          <a:p>
            <a:pPr algn="l"/>
            <a:r>
              <a:rPr sz="750" b="0" i="1">
                <a:solidFill>
                  <a:srgbClr val="646464"/>
                </a:solidFill>
                <a:latin typeface="微软雅黑"/>
                <a:ea typeface="微软雅黑"/>
              </a:rPr>
              <a:t>（[假设] 能源基准×协同0.5-1.5%+碳成本优化）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5522976"/>
            <a:ext cx="1399032" cy="82296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</a:rPr>
              <a:t>成本节约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364224"/>
            <a:ext cx="4023360" cy="38404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合计（示意）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6364224"/>
            <a:ext cx="1737360" cy="384048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262626"/>
                </a:solidFill>
                <a:latin typeface="微软雅黑"/>
                <a:ea typeface="微软雅黑"/>
              </a:rPr>
              <a:t>约6–18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6364224"/>
            <a:ext cx="5358384" cy="384048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亿元/年，成本节约口径，待企业数据校准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假设列两行式：主行=围绕关键指标的假设+净降低率；第二行=[来源]+算式。示意/参考同业/待企业校准。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情景深挖·装置能耗实时寻优：能源成本基准 × 可改善比例 × 可兑现比例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2468880" cy="566928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场景价值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4096" y="1737360"/>
            <a:ext cx="2743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 i="0">
                <a:solidFill>
                  <a:srgbClr val="48426A"/>
                </a:solidFill>
                <a:latin typeface="微软雅黑"/>
                <a:ea typeface="微软雅黑"/>
              </a:rPr>
              <a:t>=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572768"/>
            <a:ext cx="2377440" cy="56692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152 亿元/年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能源成本基准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737360"/>
            <a:ext cx="25603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 i="0">
                <a:solidFill>
                  <a:srgbClr val="48426A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72768"/>
            <a:ext cx="2377440" cy="56692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1%–3%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可改善比例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737360"/>
            <a:ext cx="25603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 i="0">
                <a:solidFill>
                  <a:srgbClr val="48426A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1572768"/>
            <a:ext cx="2377440" cy="56692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60%–80%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可兑现比例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40680" cy="141732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52120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50" b="1" i="0">
                <a:solidFill>
                  <a:srgbClr val="48426A"/>
                </a:solidFill>
                <a:latin typeface="微软雅黑"/>
                <a:ea typeface="微软雅黑"/>
              </a:rPr>
              <a:t>① 假设 / 基准 / 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6"/>
            <a:ext cx="52120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口径：成本节约，单位 亿元/年，主体恒力石化600346口径（示意）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基准：能源成本约152亿元/年（行业基准=营业成本约1900亿×能源占比约8%）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关键假设：可改善1–3%（行业）、可兑现60–80%（假设）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关键指标：单位产品综合能耗（kgce/吨）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377440"/>
            <a:ext cx="5559552" cy="141732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450592"/>
            <a:ext cx="530352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50" b="1" i="0">
                <a:solidFill>
                  <a:srgbClr val="48426A"/>
                </a:solidFill>
                <a:latin typeface="微软雅黑"/>
                <a:ea typeface="微软雅黑"/>
              </a:rPr>
              <a:t>② 机制 / 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34640"/>
            <a:ext cx="1170432" cy="56692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DCS参数+负荷+能耗建模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88352" y="2999232"/>
            <a:ext cx="146304" cy="237744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34656" y="2834640"/>
            <a:ext cx="1170432" cy="56692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识别偏离最优工况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05088" y="2999232"/>
            <a:ext cx="146304" cy="237744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51392" y="2834640"/>
            <a:ext cx="1170432" cy="56692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实时寻优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21824" y="2999232"/>
            <a:ext cx="146304" cy="237744"/>
          </a:xfrm>
          <a:prstGeom prst="rightArrow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68128" y="2834640"/>
            <a:ext cx="1170432" cy="566928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APC 闭环执行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93008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微软雅黑"/>
                <a:ea typeface="微软雅黑"/>
              </a:rPr>
              <a:t>业务动作闭环：能耗预测 → 寻优决策 → 参数下发 → 反馈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3566160" cy="1234440"/>
          </a:xfrm>
          <a:prstGeom prst="rect">
            <a:avLst/>
          </a:prstGeom>
          <a:solidFill>
            <a:srgbClr val="AFC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保守情景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98848"/>
            <a:ext cx="329184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微软雅黑"/>
                <a:ea typeface="微软雅黑"/>
              </a:rPr>
              <a:t>0.9 亿元/年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4023360"/>
            <a:ext cx="3566160" cy="1234440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411480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中性情景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4498848"/>
            <a:ext cx="329184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微软雅黑"/>
                <a:ea typeface="微软雅黑"/>
              </a:rPr>
              <a:t>2.1 亿元/年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4" y="4023360"/>
            <a:ext cx="3566160" cy="1234440"/>
          </a:xfrm>
          <a:prstGeom prst="rect">
            <a:avLst/>
          </a:prstGeom>
          <a:solidFill>
            <a:srgbClr val="66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4" y="411480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乐观情景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4498848"/>
            <a:ext cx="329184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000" b="1" i="0">
                <a:solidFill>
                  <a:srgbClr val="262626"/>
                </a:solidFill>
                <a:latin typeface="微软雅黑"/>
                <a:ea typeface="微软雅黑"/>
              </a:rPr>
              <a:t>3.6 亿元/年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三情景取值：可改善×可兑现在保守/中性/乐观下取下/中/上限；示意测算、行业基准，待企业装置级数据校准。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一套四层 AI 技术架构，把降本场景从数据接入贯通到智能体决策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1828800"/>
            <a:ext cx="384048" cy="40233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智能体调度</a:t>
            </a:r>
          </a:p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本体知识架构</a:t>
            </a:r>
          </a:p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数据接入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行动主体（智能体）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装置能耗寻优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126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收率优化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244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质量在线优化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362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设备健康与预测性维护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80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能碳协同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45980" y="2139696"/>
            <a:ext cx="1775460" cy="475488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全厂能量调度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61888" y="2651760"/>
            <a:ext cx="237744" cy="164592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98064"/>
            <a:ext cx="10881360" cy="36576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智能体技能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机理+数据混合建模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126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软测量质量预测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244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时序异常/剩余寿命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362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多目标寻优求解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480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碳核算与归因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45980" y="3200400"/>
            <a:ext cx="1775460" cy="438912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能碳/能量联合优化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61888" y="3675887"/>
            <a:ext cx="237744" cy="164592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03904"/>
            <a:ext cx="10881360" cy="36576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本体知识架构（三框）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3566160" cy="603504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语义关联本体(存在论)</a:t>
            </a:r>
          </a:p>
          <a:p>
            <a:pPr algn="ctr"/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资产/工艺/产品/能源与碳实体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206240"/>
            <a:ext cx="3566160" cy="603504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态势感知本体(认识论)</a:t>
            </a:r>
          </a:p>
          <a:p>
            <a:pPr algn="ctr"/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工况偏离识别·偏差归因·设备健康·能碳监测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206240"/>
            <a:ext cx="3566160" cy="603504"/>
          </a:xfrm>
          <a:prstGeom prst="rect">
            <a:avLst/>
          </a:prstGeom>
          <a:solidFill>
            <a:srgbClr val="AFCCE0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仿真决策本体(实践论)</a:t>
            </a:r>
          </a:p>
          <a:p>
            <a:pPr algn="ctr"/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参数寻优·排产优化·按状态检修·能碳联合优化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61888" y="4846320"/>
            <a:ext cx="237744" cy="164592"/>
          </a:xfrm>
          <a:prstGeom prst="downArrow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974336"/>
            <a:ext cx="10881360" cy="36576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数据来源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DCS/实时库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05965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LIMS/生产报表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1850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聚合在线检测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7735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设备振动监测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3620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MES/排产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9505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能碳台账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5390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公用工程平衡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01275" y="5376672"/>
            <a:ext cx="1320165" cy="438912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0" i="0">
                <a:solidFill>
                  <a:srgbClr val="262626"/>
                </a:solidFill>
                <a:latin typeface="微软雅黑"/>
                <a:ea typeface="微软雅黑"/>
              </a:rPr>
              <a:t>外部电价/碳价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86032" y="1828800"/>
            <a:ext cx="365760" cy="40233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行动主体</a:t>
            </a:r>
          </a:p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知识骨架</a:t>
            </a:r>
          </a:p>
          <a:p>
            <a:pPr algn="ctr"/>
            <a:r>
              <a:rPr sz="900" b="1" i="0">
                <a:solidFill>
                  <a:srgbClr val="646464"/>
                </a:solidFill>
                <a:latin typeface="微软雅黑"/>
                <a:ea typeface="微软雅黑"/>
              </a:rPr>
              <a:t>感知接入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自下而上：数据来源 → 本体三框 → 智能体技能 → 行动主体，逐层支撑降本场景兑现。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64240" cy="786384"/>
          </a:xfrm>
        </p:spPr>
        <p:txBody>
          <a:bodyPr wrap="square"/>
          <a:lstStyle/>
          <a:p>
            <a:pPr algn="l"/>
            <a:r>
              <a:rPr sz="2000" b="1" i="0">
                <a:solidFill>
                  <a:srgbClr val="48426A"/>
                </a:solidFill>
                <a:latin typeface="微软雅黑"/>
                <a:ea typeface="微软雅黑"/>
              </a:rPr>
              <a:t>四阶段推进：先摘就绪高价值果实，再靠数据底座做起潜力场景与全集团复制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2651760" cy="45720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① 需求摸排与场景定标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12848"/>
            <a:ext cx="2651760" cy="310896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2026-08 ~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2651760" cy="269748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试点基地（长兴岛炼化/PTA/聚酯）现状梳理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63824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7 场景优先级排序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总部统建/区域适配/现场执行边界划定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87952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回收期评估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0016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路线图与里程碑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4972" y="1847088"/>
            <a:ext cx="237744" cy="274320"/>
          </a:xfrm>
          <a:prstGeom prst="rightArrow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737360"/>
            <a:ext cx="2651760" cy="457200"/>
          </a:xfrm>
          <a:prstGeom prst="rect">
            <a:avLst/>
          </a:prstGeom>
          <a:solidFill>
            <a:srgbClr val="55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② 数据汇聚与本体构建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2212848"/>
            <a:ext cx="2651760" cy="310896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2026-10 ~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2560320"/>
            <a:ext cx="2651760" cy="269748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对接 DCS/LIMS/设备/MES/能碳/公用工程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63824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构建炼化—化纤统一业务本体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75887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★回填企业基线（能耗/收率/优等品率/停车/碳）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87952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建数据/指标/策略能力接口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00016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沉淀规则与知识资产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12764" y="1847088"/>
            <a:ext cx="237744" cy="274320"/>
          </a:xfrm>
          <a:prstGeom prst="rightArrow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3" y="1737360"/>
            <a:ext cx="2651760" cy="457200"/>
          </a:xfrm>
          <a:prstGeom prst="rect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③ 高价值场景与智能体上线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4223" y="2212848"/>
            <a:ext cx="2651760" cy="310896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2027-01 ~ 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4223" y="2560320"/>
            <a:ext cx="2651760" cy="269748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1" y="2651760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首批上线：能耗寻优 / 收率 / 预测性维护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1" y="3163824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推进：质量在线预测 / 能碳协同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1" y="3675887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联通生产/能源/设备系统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1" y="4187952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模型训练与试点验证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4700016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真实数据联合运营优化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20556" y="1847088"/>
            <a:ext cx="237744" cy="274320"/>
          </a:xfrm>
          <a:prstGeom prst="rightArrow">
            <a:avLst/>
          </a:prstGeom>
          <a:solidFill>
            <a:srgbClr val="48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5" y="1737360"/>
            <a:ext cx="2651760" cy="45720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④ 稳定运营与复制扩展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015" y="2212848"/>
            <a:ext cx="2651760" cy="310896"/>
          </a:xfrm>
          <a:prstGeom prst="rect">
            <a:avLst/>
          </a:prstGeom>
          <a:solidFill>
            <a:srgbClr val="58C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262626"/>
                </a:solidFill>
                <a:latin typeface="微软雅黑"/>
                <a:ea typeface="微软雅黑"/>
              </a:rPr>
              <a:t>2027-07 ~ 2028-06+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5" y="2560320"/>
            <a:ext cx="2651760" cy="2697480"/>
          </a:xfrm>
          <a:prstGeom prst="rect">
            <a:avLst/>
          </a:prstGeom>
          <a:solidFill>
            <a:srgbClr val="EEF3F9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1743" y="2651760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上线：全厂能量调度 / 智能排产切换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3" y="3163824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建策略执行/效果评估/复盘闭环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3" y="3675887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收益确认机制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3" y="4187952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沉淀本体/模型/策略模板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3" y="4700016"/>
            <a:ext cx="2432304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· 向多基地及未上市业务复制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solidFill>
            <a:srgbClr val="4A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建设边界：总部统建（数据底座/统一本体/寻优与预测平台/能碳MRV）｜区域适配（各基地参数/能源/政策）｜现场执行（操作/检修/调度落地）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1" i="0">
                <a:solidFill>
                  <a:srgbClr val="48426A"/>
                </a:solidFill>
                <a:latin typeface="微软雅黑"/>
                <a:ea typeface="微软雅黑"/>
              </a:rPr>
              <a:t>价值闭环：阶段② 回填基线 → 潜在价值池场景升入总额、就绪场景由示意校准为企业真实测算 → 阶段③ 兑现。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微软雅黑"/>
                <a:ea typeface="微软雅黑"/>
              </a:rPr>
              <a:t>T0 = 2026-08 为假设值，待客户确认；集团级年度节奏，绝对日期据此换算。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 and Bra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igh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rk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2542c0-632a-4c4d-9253-5e0f39fc2bd2" xsi:nil="true"/>
    <lcf76f155ced4ddcb4097134ff3c332f xmlns="0ba5a45f-e551-43bb-8657-774692fc27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9B969ADACCA34AA500FEC215693B98" ma:contentTypeVersion="126" ma:contentTypeDescription="Create a new document." ma:contentTypeScope="" ma:versionID="4dba28a01fcf08eb1c1dad5f3b843a09">
  <xsd:schema xmlns:xsd="http://www.w3.org/2001/XMLSchema" xmlns:xs="http://www.w3.org/2001/XMLSchema" xmlns:p="http://schemas.microsoft.com/office/2006/metadata/properties" xmlns:ns2="0ba5a45f-e551-43bb-8657-774692fc272c" xmlns:ns3="d32542c0-632a-4c4d-9253-5e0f39fc2bd2" targetNamespace="http://schemas.microsoft.com/office/2006/metadata/properties" ma:root="true" ma:fieldsID="587368322c17a8c23528160d50ac5463" ns2:_="" ns3:_="">
    <xsd:import namespace="0ba5a45f-e551-43bb-8657-774692fc272c"/>
    <xsd:import namespace="d32542c0-632a-4c4d-9253-5e0f39fc2b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a45f-e551-43bb-8657-774692fc2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2542c0-632a-4c4d-9253-5e0f39fc2b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db12044-5bf3-4e71-b797-d540f2ab5f91}" ma:internalName="TaxCatchAll" ma:showField="CatchAllData" ma:web="d32542c0-632a-4c4d-9253-5e0f39fc2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9C2AE-A19C-479D-A337-FF9740752F1C}">
  <ds:schemaRefs>
    <ds:schemaRef ds:uri="http://schemas.microsoft.com/office/2006/metadata/properties"/>
    <ds:schemaRef ds:uri="http://schemas.microsoft.com/office/infopath/2007/PartnerControls"/>
    <ds:schemaRef ds:uri="d32542c0-632a-4c4d-9253-5e0f39fc2bd2"/>
    <ds:schemaRef ds:uri="0ba5a45f-e551-43bb-8657-774692fc272c"/>
  </ds:schemaRefs>
</ds:datastoreItem>
</file>

<file path=customXml/itemProps2.xml><?xml version="1.0" encoding="utf-8"?>
<ds:datastoreItem xmlns:ds="http://schemas.openxmlformats.org/officeDocument/2006/customXml" ds:itemID="{22372D4C-8EF3-4041-AA6C-1081A5308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5a45f-e551-43bb-8657-774692fc272c"/>
    <ds:schemaRef ds:uri="d32542c0-632a-4c4d-9253-5e0f39fc2b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4247D7-4976-45B9-A4DD-FE20FDD06A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2952</TotalTime>
  <Words>28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Scto Grotesk A Light</vt:lpstr>
      <vt:lpstr>等线</vt:lpstr>
      <vt:lpstr>Microsoft YaHei</vt:lpstr>
      <vt:lpstr>Microsoft YaHei</vt:lpstr>
      <vt:lpstr>微软雅黑 Bold</vt:lpstr>
      <vt:lpstr>Arial</vt:lpstr>
      <vt:lpstr>Covers and Branding</vt:lpstr>
      <vt:lpstr>Light Theme</vt:lpstr>
      <vt:lpstr>Dark Theme</vt:lpstr>
      <vt:lpstr>Cover Page Style A</vt:lpstr>
      <vt:lpstr>Title here 标题在这里</vt:lpstr>
      <vt:lpstr>Cover Page Style 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 PowerPoint Template</dc:title>
  <dc:creator>Sky He</dc:creator>
  <cp:lastModifiedBy>Zekai Wu(Intern)</cp:lastModifiedBy>
  <cp:revision>82</cp:revision>
  <dcterms:created xsi:type="dcterms:W3CDTF">2023-09-18T13:12:15Z</dcterms:created>
  <dcterms:modified xsi:type="dcterms:W3CDTF">2026-06-25T02:11:22Z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88701c-7b77-4fb9-b740-660d95e7af9d_Enabled">
    <vt:lpwstr>true</vt:lpwstr>
  </property>
  <property fmtid="{D5CDD505-2E9C-101B-9397-08002B2CF9AE}" pid="3" name="MSIP_Label_6688701c-7b77-4fb9-b740-660d95e7af9d_SetDate">
    <vt:lpwstr>2023-09-28T02:36:36Z</vt:lpwstr>
  </property>
  <property fmtid="{D5CDD505-2E9C-101B-9397-08002B2CF9AE}" pid="4" name="MSIP_Label_6688701c-7b77-4fb9-b740-660d95e7af9d_Method">
    <vt:lpwstr>Privileged</vt:lpwstr>
  </property>
  <property fmtid="{D5CDD505-2E9C-101B-9397-08002B2CF9AE}" pid="5" name="MSIP_Label_6688701c-7b77-4fb9-b740-660d95e7af9d_Name">
    <vt:lpwstr>外部公开</vt:lpwstr>
  </property>
  <property fmtid="{D5CDD505-2E9C-101B-9397-08002B2CF9AE}" pid="6" name="MSIP_Label_6688701c-7b77-4fb9-b740-660d95e7af9d_SiteId">
    <vt:lpwstr>2151c7d1-a2f9-4fdb-9325-4d1ad1633565</vt:lpwstr>
  </property>
  <property fmtid="{D5CDD505-2E9C-101B-9397-08002B2CF9AE}" pid="7" name="MSIP_Label_6688701c-7b77-4fb9-b740-660d95e7af9d_ActionId">
    <vt:lpwstr>caf28753-db67-44e3-bcf7-13b69e597abd</vt:lpwstr>
  </property>
  <property fmtid="{D5CDD505-2E9C-101B-9397-08002B2CF9AE}" pid="8" name="MSIP_Label_6688701c-7b77-4fb9-b740-660d95e7af9d_ContentBits">
    <vt:lpwstr>0</vt:lpwstr>
  </property>
  <property fmtid="{D5CDD505-2E9C-101B-9397-08002B2CF9AE}" pid="9" name="ContentTypeId">
    <vt:lpwstr>0x0101004E9B969ADACCA34AA500FEC215693B98</vt:lpwstr>
  </property>
  <property fmtid="{D5CDD505-2E9C-101B-9397-08002B2CF9AE}" pid="10" name="Order">
    <vt:r8>23100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